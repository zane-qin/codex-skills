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69" r:id="rId6"/>
    <p:sldId id="261" r:id="rId7"/>
    <p:sldId id="262" r:id="rId8"/>
    <p:sldId id="265" r:id="rId9"/>
    <p:sldId id="271" r:id="rId10"/>
    <p:sldId id="272" r:id="rId11"/>
    <p:sldId id="267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4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4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建议用时：50 秒。</a:t>
            </a:r>
          </a:p>
          <a:p>
            <a:r>
              <a:t>效率要分模式看。最直接的节省来自二十三个 token 的非推理输出。图中展示的是推理模式，它的平均长度比 InternVL3 短，但比 Qwen 更长。作者还排除了 Fake-HR1 中包含重复片段的输出，所以这张图应谨慎解读。输出长度也不能直接等同于端到端延迟。</a:t>
            </a:r>
          </a:p>
          <a:p>
            <a:r>
              <a:t>来源：用户提供论文，arXiv:2602.10042v3，2026-04-11。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建议用时：40 秒。</a:t>
            </a:r>
          </a:p>
          <a:p>
            <a:r>
              <a:t>这里不用逐句念英文。对于同一张合成鸟图，两个基线都给了真实的判断。Fake-HR1 在直接提问和要求解释时都给出了假的判断，并改变了输出形式。这个案例说明它能响应问题要求，但没有单独证明模型能够稳定识别图像难度，而且解释中的线索本身是否可信，也需要进一步评估。</a:t>
            </a:r>
          </a:p>
          <a:p>
            <a:r>
              <a:t>来源：用户提供论文，arXiv:2602.10042v3，2026-04-11。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LRM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：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Large Reasoning Model，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大型推理模型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557" r="557"/>
          <a:stretch>
            <a:fillRect/>
          </a:stretch>
        </p:blipFill>
        <p:spPr>
          <a:xfrm>
            <a:off x="508000" y="304800"/>
            <a:ext cx="22860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3" name="Connector 3"/>
          <p:cNvCxnSpPr/>
          <p:nvPr/>
        </p:nvCxnSpPr>
        <p:spPr>
          <a:xfrm rot="-3906">
            <a:off x="508004" y="9080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529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2159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3000" b="1" i="0" u="none" strike="noStrike">
                <a:solidFill>
                  <a:srgbClr val="1E1E1E"/>
                </a:solidFill>
                <a:latin typeface="Noto Sans SC"/>
                <a:ea typeface="Noto Sans SC"/>
                <a:cs typeface="Noto Sans SC"/>
                <a:sym typeface="Noto Sans SC"/>
              </a:rPr>
              <a:t>Fake-HR1: Rethinking Reasoning of Vision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3000" b="1" i="0" u="none" strike="noStrike">
                <a:solidFill>
                  <a:srgbClr val="1E1E1E"/>
                </a:solidFill>
                <a:latin typeface="Noto Sans SC"/>
                <a:ea typeface="Noto Sans SC"/>
                <a:cs typeface="Noto Sans SC"/>
                <a:sym typeface="Noto Sans SC"/>
              </a:rPr>
              <a:t>Language Model for Synthetic Image Detection</a:t>
            </a:r>
            <a:endParaRPr lang="en-US" sz="3000" b="1" i="0" u="none" strike="noStrike">
              <a:solidFill>
                <a:srgbClr val="1E1E1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16000" y="3492500"/>
            <a:ext cx="1016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混合推理视觉语言模型的合成图像检测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7188">
            <a:off x="4826016" y="4184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529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4381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Changjiang Jiang, Xinkuan Sha, Fengchang Yu, Jingjing Liu, Jian Liu, Mingqi Fang, Chenfeng Zhang, Wei Lu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8006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武汉大学 · 蚂蚁集团 · 浙江大学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5956935"/>
            <a:ext cx="5503545" cy="7486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chemeClr val="accent1">
                    <a:lumMod val="5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</a:t>
            </a:r>
            <a:r>
              <a:rPr lang="zh-CN" altLang="en-US" sz="1300" b="0" i="0" u="none" strike="noStrike">
                <a:solidFill>
                  <a:schemeClr val="accent1">
                    <a:lumMod val="5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秦正帅</a:t>
            </a:r>
            <a:r>
              <a:rPr lang="en-US" sz="1300" b="0" i="0" u="none" strike="noStrike">
                <a:solidFill>
                  <a:schemeClr val="accent1">
                    <a:lumMod val="5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　　</a:t>
            </a:r>
            <a:endParaRPr lang="en-US" sz="1300" b="0" i="0" u="none" strike="noStrike">
              <a:solidFill>
                <a:schemeClr val="accent1">
                  <a:lumMod val="50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0" y="6121400"/>
            <a:ext cx="406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17000"/>
              </a:lnSpc>
              <a:defRPr/>
            </a:pPr>
            <a:endParaRPr lang="en-US" sz="110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r">
              <a:lnSpc>
                <a:spcPct val="117000"/>
              </a:lnSpc>
            </a:pPr>
            <a:r>
              <a:rPr lang="en-US" sz="1300" b="0" i="0" u="none" strike="noStrike">
                <a:solidFill>
                  <a:schemeClr val="accent1">
                    <a:lumMod val="5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2026年9月24 </a:t>
            </a:r>
            <a:r>
              <a:rPr lang="zh-CN" altLang="en-US" sz="1300" b="0" i="0" u="none" strike="noStrike">
                <a:solidFill>
                  <a:schemeClr val="accent1">
                    <a:lumMod val="5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日</a:t>
            </a:r>
            <a:endParaRPr lang="zh-CN" altLang="en-US" sz="1300" b="0" i="0" u="none" strike="noStrike">
              <a:solidFill>
                <a:schemeClr val="accent1">
                  <a:lumMod val="50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175635" y="1907540"/>
            <a:ext cx="6096000" cy="3606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lnSpc>
                <a:spcPct val="125000"/>
              </a:lnSpc>
              <a:defRPr/>
            </a:pPr>
            <a:r>
              <a:rPr lang="en-US" b="1">
                <a:solidFill>
                  <a:srgbClr val="00529B"/>
                </a:solidFill>
                <a:latin typeface="Noto Sans SC"/>
                <a:ea typeface="Noto Sans SC"/>
                <a:cs typeface="Noto Sans SC"/>
                <a:sym typeface="Noto Sans SC"/>
              </a:rPr>
              <a:t>CCF-B 类会议 · ICASSP 2026</a:t>
            </a:r>
            <a:endParaRPr lang="en-US" altLang="en-US" b="1">
              <a:solidFill>
                <a:srgbClr val="00529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6875" y="112462"/>
            <a:ext cx="2524125" cy="443732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7777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7777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1275" b="0">
              <a:solidFill>
                <a:srgbClr val="77777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23875" y="828675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005BA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005BA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研究背景与核心问题</a:t>
            </a:r>
            <a:endParaRPr sz="2700" b="1">
              <a:solidFill>
                <a:srgbClr val="005BA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19125" y="1714500"/>
            <a:ext cx="107632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00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合成图像检测</a:t>
            </a:r>
            <a:r>
              <a:rPr sz="1600" b="0">
                <a:solidFill>
                  <a:srgbClr val="222222"/>
                </a:solidFill>
                <a:highlight>
                  <a:srgbClr val="FFFF00"/>
                </a:highligh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既要判断真假</a:t>
            </a:r>
            <a:r>
              <a:rPr sz="1600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，也希望</a:t>
            </a:r>
            <a:r>
              <a:rPr sz="1600" b="0">
                <a:solidFill>
                  <a:srgbClr val="222222"/>
                </a:solidFill>
                <a:highlight>
                  <a:srgbClr val="FFFF00"/>
                </a:highligh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能说明判断依据</a:t>
            </a:r>
            <a:r>
              <a:rPr sz="1600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。</a:t>
            </a:r>
            <a:endParaRPr sz="1600" b="0">
              <a:solidFill>
                <a:srgbClr val="2222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24125"/>
            <a:ext cx="107632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00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但明显的伪造图也生成长段解释，</a:t>
            </a:r>
            <a:r>
              <a:rPr sz="1600" b="0">
                <a:solidFill>
                  <a:srgbClr val="222222"/>
                </a:solidFill>
                <a:highlight>
                  <a:srgbClr val="FFFF00"/>
                </a:highligh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会增加输出开销</a:t>
            </a:r>
            <a:r>
              <a:rPr sz="1600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。</a:t>
            </a:r>
            <a:endParaRPr sz="1600" b="0">
              <a:solidFill>
                <a:srgbClr val="2222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19125" y="3333750"/>
            <a:ext cx="107632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1600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解决方法</a:t>
            </a:r>
            <a:r>
              <a:rPr sz="1600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：直接给结论，或先分析再判断。</a:t>
            </a:r>
            <a:endParaRPr sz="1600" b="0">
              <a:solidFill>
                <a:srgbClr val="2222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0" name="Picture 7"/>
          <p:cNvPicPr>
            <a:picLocks noChangeAspect="1"/>
          </p:cNvPicPr>
          <p:nvPr/>
        </p:nvPicPr>
        <p:blipFill>
          <a:blip r:embed="rId2"/>
          <a:srcRect t="31" b="31"/>
          <a:stretch>
            <a:fillRect/>
          </a:stretch>
        </p:blipFill>
        <p:spPr>
          <a:xfrm>
            <a:off x="619125" y="3893820"/>
            <a:ext cx="4373880" cy="277368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1" name="Picture 9"/>
          <p:cNvPicPr>
            <a:picLocks noChangeAspect="1"/>
          </p:cNvPicPr>
          <p:nvPr/>
        </p:nvPicPr>
        <p:blipFill>
          <a:blip r:embed="rId3"/>
          <a:srcRect t="31" b="31"/>
          <a:stretch>
            <a:fillRect/>
          </a:stretch>
        </p:blipFill>
        <p:spPr>
          <a:xfrm>
            <a:off x="6755130" y="3836670"/>
            <a:ext cx="4462780" cy="283083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557" r="557"/>
          <a:stretch>
            <a:fillRect/>
          </a:stretch>
        </p:blipFill>
        <p:spPr>
          <a:xfrm>
            <a:off x="508000" y="304800"/>
            <a:ext cx="22860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9525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529B"/>
                </a:solidFill>
                <a:latin typeface="Noto Sans SC"/>
                <a:ea typeface="Noto Sans SC"/>
                <a:cs typeface="Noto Sans SC"/>
                <a:sym typeface="Noto Sans SC"/>
              </a:rPr>
              <a:t> Stage 1 混合微调（HFT）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78000"/>
            <a:ext cx="558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目标：让模型同时学会两种回答模式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17220" y="2245360"/>
            <a:ext cx="5588000" cy="21240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</a:pPr>
            <a:r>
              <a:rPr lang="en-US" sz="1300" b="1" i="0" u="none" strike="noStrike">
                <a:solidFill>
                  <a:srgbClr val="00529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数据来源分配</a:t>
            </a:r>
            <a:endParaRPr lang="en-US" sz="1300" b="1" i="0" u="none" strike="noStrike">
              <a:solidFill>
                <a:srgbClr val="00529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65100" indent="-165100" algn="l">
              <a:lnSpc>
                <a:spcPct val="150000"/>
              </a:lnSpc>
              <a:buClr>
                <a:srgbClr val="3C3C3C"/>
              </a:buClr>
              <a:buChar char="•"/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GenImage（无推理类型）+ 简单问题 → 非推理数据（1.834M）</a:t>
            </a:r>
            <a:endParaRPr lang="en-US" sz="1300" b="0" i="0" u="none" strike="noStrike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65100" indent="-165100" algn="l">
              <a:lnSpc>
                <a:spcPct val="150000"/>
              </a:lnSpc>
              <a:buClr>
                <a:srgbClr val="3C3C3C"/>
              </a:buClr>
              <a:buChar char="•"/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FakeClue（推理密集）+ 困难问题 → 推理数据（94.188K）</a:t>
            </a:r>
            <a:endParaRPr lang="en-US" sz="1300" b="0" i="0" u="none" strike="noStrike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50000"/>
              </a:lnSpc>
            </a:pPr>
          </a:p>
          <a:p>
            <a:pPr marL="0" indent="0" algn="l">
              <a:lnSpc>
                <a:spcPct val="150000"/>
              </a:lnSpc>
            </a:pPr>
            <a:r>
              <a:rPr lang="en-US" sz="1300" b="1" i="0" u="none" strike="noStrike">
                <a:solidFill>
                  <a:srgbClr val="00529B"/>
                </a:solidFill>
                <a:latin typeface="Noto Sans SC"/>
                <a:ea typeface="Noto Sans SC"/>
                <a:cs typeface="Noto Sans SC"/>
                <a:sym typeface="Noto Sans SC"/>
              </a:rPr>
              <a:t>输出格式</a:t>
            </a:r>
            <a:endParaRPr lang="en-US" sz="1300" b="1" i="0" u="none" strike="noStrike">
              <a:solidFill>
                <a:srgbClr val="00529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65100" indent="-165100" algn="l">
              <a:lnSpc>
                <a:spcPct val="150000"/>
              </a:lnSpc>
              <a:buClr>
                <a:srgbClr val="3C3C3C"/>
              </a:buClr>
              <a:buChar char="•"/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推理：&lt;think&gt;推理步骤&lt;/think&gt;答案</a:t>
            </a:r>
            <a:endParaRPr lang="en-US" sz="1300" b="0" i="0" u="none" strike="noStrike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65100" indent="-165100" algn="l">
              <a:lnSpc>
                <a:spcPct val="150000"/>
              </a:lnSpc>
              <a:buClr>
                <a:srgbClr val="3C3C3C"/>
              </a:buClr>
              <a:buChar char="•"/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非推理：&lt;think&gt;&lt;/think&gt;答案</a:t>
            </a:r>
            <a:endParaRPr lang="en-US" sz="1300" b="0" i="0" u="none" strike="noStrike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731000" y="1778000"/>
            <a:ext cx="4699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 t="51" b="51"/>
          <a:stretch>
            <a:fillRect/>
          </a:stretch>
        </p:blipFill>
        <p:spPr>
          <a:xfrm>
            <a:off x="3110865" y="4135120"/>
            <a:ext cx="3830955" cy="272288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843" y="1587500"/>
            <a:ext cx="4714828" cy="46196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557" r="557"/>
          <a:stretch>
            <a:fillRect/>
          </a:stretch>
        </p:blipFill>
        <p:spPr>
          <a:xfrm>
            <a:off x="508000" y="304800"/>
            <a:ext cx="22860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9525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529B"/>
                </a:solidFill>
                <a:latin typeface="Noto Sans SC"/>
                <a:ea typeface="Noto Sans SC"/>
                <a:cs typeface="Noto Sans SC"/>
                <a:sym typeface="Noto Sans SC"/>
              </a:rPr>
              <a:t> Stage 2 混合推理强化学习（HGRPO）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11985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</a:t>
            </a: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HFT 后模型出现"推理退化"——即使面对复杂查询，也默认用非推理模式直接回答。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zh-CN" altLang="en-US" sz="1400" b="1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解决</a:t>
            </a:r>
            <a:r>
              <a:rPr lang="en-US" sz="1400" b="1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用 GRPO 强化学习，通过奖励信号让模型学会"何时推理"。GRPO 无需 critic 网络，用组平均估计 baseline，省显存。</a:t>
            </a:r>
            <a:endParaRPr lang="en-US" sz="1400" b="0" i="0" u="none" strike="noStrike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984500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奖励设计（三部分加权）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492500"/>
            <a:ext cx="330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29B"/>
                </a:solidFill>
                <a:latin typeface="Noto Sans SC"/>
                <a:ea typeface="Noto Sans SC"/>
                <a:cs typeface="Noto Sans SC"/>
                <a:sym typeface="Noto Sans SC"/>
              </a:rPr>
              <a:t>Accuracy Reward（权重 0.8）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40005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去掉 think 标签后与真实标签比较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预测正确 = 1，错误 = 0</a:t>
            </a:r>
            <a:endParaRPr lang="en-US" sz="12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3492500"/>
            <a:ext cx="330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29B"/>
                </a:solidFill>
                <a:latin typeface="Noto Sans SC"/>
                <a:ea typeface="Noto Sans SC"/>
                <a:cs typeface="Noto Sans SC"/>
                <a:sym typeface="Noto Sans SC"/>
              </a:rPr>
              <a:t>Format Reward（权重 0.1）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40005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输出是否严格遵循 think 标签结构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符合格式 = 1，不符合 = 0</a:t>
            </a:r>
            <a:endParaRPr lang="en-US" sz="12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128000" y="3492500"/>
            <a:ext cx="330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29B"/>
                </a:solidFill>
                <a:latin typeface="Noto Sans SC"/>
                <a:ea typeface="Noto Sans SC"/>
                <a:cs typeface="Noto Sans SC"/>
                <a:sym typeface="Noto Sans SC"/>
              </a:rPr>
              <a:t>Hybrid-Thinking Reward（权重 0.1）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40005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简单问题不推理 = 1，推理了 = 0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困难问题推理了 = 1，不推理 = 0</a:t>
            </a:r>
            <a:endParaRPr lang="en-US" sz="12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269240" y="4768215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总奖励：R = 0.8 · R_acc + 0.1 · R_format + 0.1 · R_hyb</a:t>
            </a:r>
            <a:endParaRPr lang="en-US" sz="1100"/>
          </a:p>
        </p:txBody>
      </p:sp>
      <p:sp>
        <p:nvSpPr>
          <p:cNvPr id="16" name="文本框 15"/>
          <p:cNvSpPr txBox="1"/>
          <p:nvPr/>
        </p:nvSpPr>
        <p:spPr>
          <a:xfrm>
            <a:off x="3048000" y="5534977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pPr indent="0">
              <a:buFont typeface="Arial" panose="020B0604020202090204"/>
              <a:buNone/>
            </a:pPr>
            <a:r>
              <a:rPr lang="zh-CN" altLang="en-US" sz="1600">
                <a:solidFill>
                  <a:srgbClr val="3C3C3C"/>
                </a:solidFill>
                <a:latin typeface="Noto Sans SC"/>
                <a:ea typeface="Noto Sans SC"/>
              </a:rPr>
              <a:t>训练数据：</a:t>
            </a:r>
            <a:endParaRPr lang="zh-CN" altLang="en-US" sz="1600">
              <a:solidFill>
                <a:srgbClr val="3C3C3C"/>
              </a:solidFill>
              <a:latin typeface="Noto Sans SC"/>
              <a:ea typeface="Noto Sans SC"/>
            </a:endParaRPr>
          </a:p>
          <a:p>
            <a:pPr>
              <a:buFont typeface="Arial" panose="020B0604020202090204"/>
              <a:buChar char="•"/>
            </a:pPr>
            <a:r>
              <a:rPr lang="zh-CN" altLang="en-US" sz="1600">
                <a:solidFill>
                  <a:srgbClr val="3C3C3C"/>
                </a:solidFill>
                <a:latin typeface="Noto Sans SC"/>
                <a:ea typeface="Noto Sans SC"/>
              </a:rPr>
              <a:t>拒绝采样：每样本评估 </a:t>
            </a:r>
            <a:r>
              <a:rPr lang="en-US" altLang="zh-CN" sz="1600">
                <a:solidFill>
                  <a:srgbClr val="3C3C3C"/>
                </a:solidFill>
                <a:latin typeface="Noto Sans SC"/>
                <a:ea typeface="Noto Sans SC"/>
              </a:rPr>
              <a:t>5 </a:t>
            </a:r>
            <a:r>
              <a:rPr lang="zh-CN" altLang="en-US" sz="1600">
                <a:solidFill>
                  <a:srgbClr val="3C3C3C"/>
                </a:solidFill>
                <a:latin typeface="Noto Sans SC"/>
                <a:ea typeface="Noto Sans SC"/>
              </a:rPr>
              <a:t>次，全对的丢弃</a:t>
            </a:r>
            <a:endParaRPr lang="zh-CN" altLang="en-US" sz="1600">
              <a:solidFill>
                <a:srgbClr val="3C3C3C"/>
              </a:solidFill>
              <a:latin typeface="Noto Sans SC"/>
              <a:ea typeface="Noto Sans SC"/>
            </a:endParaRPr>
          </a:p>
          <a:p>
            <a:pPr>
              <a:buFont typeface="Arial" panose="020B0604020202090204"/>
              <a:buChar char="•"/>
            </a:pPr>
            <a:r>
              <a:rPr lang="zh-CN" altLang="en-US" sz="1600">
                <a:solidFill>
                  <a:srgbClr val="3C3C3C"/>
                </a:solidFill>
                <a:highlight>
                  <a:srgbClr val="FFFF00"/>
                </a:highlight>
                <a:latin typeface="Noto Sans SC"/>
                <a:ea typeface="Noto Sans SC"/>
              </a:rPr>
              <a:t>保留 </a:t>
            </a:r>
            <a:r>
              <a:rPr lang="en-US" altLang="zh-CN" sz="1600">
                <a:solidFill>
                  <a:srgbClr val="3C3C3C"/>
                </a:solidFill>
                <a:highlight>
                  <a:srgbClr val="FFFF00"/>
                </a:highlight>
                <a:latin typeface="Noto Sans SC"/>
                <a:ea typeface="Noto Sans SC"/>
              </a:rPr>
              <a:t>15.712K </a:t>
            </a:r>
            <a:r>
              <a:rPr lang="zh-CN" altLang="en-US" sz="1600">
                <a:solidFill>
                  <a:srgbClr val="3C3C3C"/>
                </a:solidFill>
                <a:highlight>
                  <a:srgbClr val="FFFF00"/>
                </a:highlight>
                <a:latin typeface="Noto Sans SC"/>
                <a:ea typeface="Noto Sans SC"/>
              </a:rPr>
              <a:t>困难样本用于强化学习</a:t>
            </a:r>
            <a:endParaRPr lang="zh-CN" altLang="en-US" sz="1600">
              <a:solidFill>
                <a:srgbClr val="3C3C3C"/>
              </a:solidFill>
              <a:highlight>
                <a:srgbClr val="FFFF00"/>
              </a:highlight>
              <a:latin typeface="Noto Sans SC"/>
              <a:ea typeface="Noto Sans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557" r="557"/>
          <a:stretch>
            <a:fillRect/>
          </a:stretch>
        </p:blipFill>
        <p:spPr>
          <a:xfrm>
            <a:off x="508000" y="304800"/>
            <a:ext cx="22860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9525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0529B"/>
                </a:solidFill>
                <a:latin typeface="Noto Sans SC"/>
                <a:ea typeface="Noto Sans SC"/>
                <a:cs typeface="Noto Sans SC"/>
                <a:sym typeface="Noto Sans SC"/>
              </a:rPr>
              <a:t>主实验</a:t>
            </a:r>
            <a:r>
              <a:rPr lang="zh-CN" altLang="en-US" sz="2600" b="1" i="0" u="none" strike="noStrike">
                <a:solidFill>
                  <a:srgbClr val="00529B"/>
                </a:solidFill>
                <a:latin typeface="Noto Sans SC"/>
                <a:ea typeface="Noto Sans SC"/>
                <a:cs typeface="Noto Sans SC"/>
                <a:sym typeface="Noto Sans SC"/>
              </a:rPr>
              <a:t>结果</a:t>
            </a:r>
            <a:endParaRPr lang="zh-CN" altLang="en-US" sz="2600" b="1" i="0" u="none" strike="noStrike">
              <a:solidFill>
                <a:srgbClr val="00529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2108200"/>
            <a:ext cx="1066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00529B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</a:t>
            </a:r>
            <a:r>
              <a:rPr lang="en-US" sz="14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Fake-HR1_rl 在 7B 规模上超越所有基线和 SFT 版本，Overall Acc 从 Qwen2.5-VL 的 35.40% 提升到 </a:t>
            </a:r>
            <a:r>
              <a:rPr lang="en-US" sz="1400" b="1" i="0" u="none" strike="noStrike">
                <a:solidFill>
                  <a:srgbClr val="B43C3C"/>
                </a:solidFill>
                <a:latin typeface="Noto Sans SC"/>
                <a:ea typeface="Noto Sans SC"/>
                <a:cs typeface="Noto Sans SC"/>
                <a:sym typeface="Noto Sans SC"/>
              </a:rPr>
              <a:t>86.92%</a:t>
            </a:r>
            <a:r>
              <a:rPr lang="en-US" sz="14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HRL 微调有效缓解了模型对 Real 分类的偏见，非推理模式略优于推理模式。</a:t>
            </a:r>
            <a:endParaRPr lang="en-US" sz="1400" b="0" i="0" u="none" strike="noStrike">
              <a:solidFill>
                <a:srgbClr val="32323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l="12" r="12"/>
          <a:stretch>
            <a:fillRect/>
          </a:stretch>
        </p:blipFill>
        <p:spPr>
          <a:xfrm>
            <a:off x="2540000" y="2857500"/>
            <a:ext cx="7112000" cy="3251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2540000" y="6223000"/>
            <a:ext cx="711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Table 1: FakeClue 测试集上与其他检测方法/VLM 的对比</a:t>
            </a:r>
            <a:endParaRPr lang="en-US" sz="1100"/>
          </a:p>
        </p:txBody>
      </p:sp>
      <p:sp>
        <p:nvSpPr>
          <p:cNvPr id="8" name="文本框 7"/>
          <p:cNvSpPr txBox="1"/>
          <p:nvPr/>
        </p:nvSpPr>
        <p:spPr>
          <a:xfrm>
            <a:off x="762000" y="175768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180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测试集：FakeClue，指标为 Overall Accuracy </a:t>
            </a:r>
            <a:r>
              <a:rPr lang="zh-CN" sz="180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和</a:t>
            </a:r>
            <a:r>
              <a:rPr sz="180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 F1。</a:t>
            </a:r>
            <a:endParaRPr lang="zh-CN" altLang="en-US" sz="1800">
              <a:solidFill>
                <a:srgbClr val="2222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3050" y="240097"/>
            <a:ext cx="2524125" cy="443732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7777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7777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</a:t>
            </a:r>
            <a:endParaRPr sz="1275" b="0">
              <a:solidFill>
                <a:srgbClr val="77777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23875" y="828675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005BA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005BA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输出效率</a:t>
            </a:r>
            <a:endParaRPr sz="2700" b="1">
              <a:solidFill>
                <a:srgbClr val="005BA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19125" y="1714500"/>
            <a:ext cx="57150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非推理模式：论文报告固定</a:t>
            </a:r>
            <a:r>
              <a:rPr sz="2025" b="0">
                <a:solidFill>
                  <a:srgbClr val="222222"/>
                </a:solidFill>
                <a:highlight>
                  <a:srgbClr val="FFFF00"/>
                </a:highligh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输出 23 tokens</a:t>
            </a:r>
            <a:r>
              <a:rPr sz="202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。</a:t>
            </a:r>
            <a:endParaRPr sz="2025" b="0">
              <a:solidFill>
                <a:srgbClr val="2222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4330700"/>
            <a:ext cx="57150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推理模式平均 737.0 tokens，低于 InternVL3 的 853.3。</a:t>
            </a:r>
            <a:endParaRPr sz="2025" b="0">
              <a:solidFill>
                <a:srgbClr val="2222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19125" y="5486400"/>
            <a:ext cx="57150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但高于 Qwen2.5-VL 的 467.5，不能说所有模式都最省。</a:t>
            </a:r>
            <a:endParaRPr sz="2025" b="0">
              <a:solidFill>
                <a:srgbClr val="2222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4829175"/>
            <a:ext cx="57150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endParaRPr sz="2025" b="0">
              <a:solidFill>
                <a:srgbClr val="2222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375" y="2254250"/>
            <a:ext cx="5344160" cy="28784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15" y="2340610"/>
            <a:ext cx="5605145" cy="11925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3050" y="240097"/>
            <a:ext cx="2524125" cy="443732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77777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7777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07</a:t>
            </a:r>
            <a:endParaRPr sz="1275" b="0">
              <a:solidFill>
                <a:srgbClr val="77777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23875" y="828675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005BA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005BA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案例</a:t>
            </a:r>
            <a:endParaRPr sz="2700" b="1">
              <a:solidFill>
                <a:srgbClr val="005BA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1841551"/>
            <a:ext cx="7048500" cy="4298847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8048625" y="1762125"/>
            <a:ext cx="3476625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只问真还是假：Fake-HR1 直接输出 fake。</a:t>
            </a:r>
            <a:endParaRPr sz="1875" b="0">
              <a:solidFill>
                <a:srgbClr val="2222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48625" y="2857500"/>
            <a:ext cx="3476625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要求解释原因：模型补充鸟喙边缘、羽毛纹理等线索。</a:t>
            </a:r>
            <a:endParaRPr sz="1875" b="0">
              <a:solidFill>
                <a:srgbClr val="2222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557" r="557"/>
          <a:stretch>
            <a:fillRect/>
          </a:stretch>
        </p:blipFill>
        <p:spPr>
          <a:xfrm>
            <a:off x="508000" y="304800"/>
            <a:ext cx="22860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9525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600" b="1" i="0" u="none" strike="noStrike">
                <a:solidFill>
                  <a:srgbClr val="00529B"/>
                </a:solidFill>
                <a:latin typeface="Noto Sans SC"/>
                <a:ea typeface="Noto Sans SC"/>
                <a:cs typeface="Noto Sans SC"/>
                <a:sym typeface="Noto Sans SC"/>
              </a:rPr>
              <a:t>优点</a:t>
            </a:r>
            <a:r>
              <a:rPr lang="en-US" sz="2600" b="1" i="0" u="none" strike="noStrike">
                <a:solidFill>
                  <a:srgbClr val="00529B"/>
                </a:solidFill>
                <a:latin typeface="Noto Sans SC"/>
                <a:ea typeface="Noto Sans SC"/>
                <a:cs typeface="Noto Sans SC"/>
                <a:sym typeface="Noto Sans SC"/>
              </a:rPr>
              <a:t>与不足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841500"/>
            <a:ext cx="112077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>
                <a:solidFill>
                  <a:srgbClr val="C00000"/>
                </a:solidFill>
                <a:latin typeface="Arial" panose="020B0604020202090204" pitchFamily="34" charset="0"/>
              </a:rPr>
              <a:t>优点</a:t>
            </a:r>
            <a:endParaRPr lang="zh-CN" altLang="en-US" sz="1800" b="1">
              <a:solidFill>
                <a:srgbClr val="C00000"/>
              </a:solidFill>
              <a:latin typeface="Arial" panose="020B0604020202090204" pitchFamily="34" charset="0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349500"/>
            <a:ext cx="5080000" cy="368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58000"/>
              </a:lnSpc>
              <a:buClr>
                <a:srgbClr val="3C3C3C"/>
              </a:buClr>
              <a:buChar char="•"/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提出 SFT + HGRPO </a:t>
            </a:r>
            <a:r>
              <a:rPr lang="en-US" sz="1300" b="0" i="0" u="none" strike="noStrike">
                <a:solidFill>
                  <a:srgbClr val="3C3C3C"/>
                </a:solidFill>
                <a:highlight>
                  <a:srgbClr val="FFFF00"/>
                </a:highlight>
                <a:latin typeface="Noto Sans SC"/>
                <a:ea typeface="Noto Sans SC"/>
                <a:cs typeface="Noto Sans SC"/>
                <a:sym typeface="Noto Sans SC"/>
              </a:rPr>
              <a:t>两阶段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训练框架，</a:t>
            </a:r>
            <a:r>
              <a:rPr lang="en-US" sz="1300" b="0" i="0" u="none" strike="noStrike">
                <a:solidFill>
                  <a:srgbClr val="3C3C3C"/>
                </a:solidFill>
                <a:highlight>
                  <a:srgbClr val="FFFF00"/>
                </a:highlight>
                <a:latin typeface="Noto Sans SC"/>
                <a:ea typeface="Noto Sans SC"/>
                <a:cs typeface="Noto Sans SC"/>
                <a:sym typeface="Noto Sans SC"/>
              </a:rPr>
              <a:t>可推广到多个模型</a:t>
            </a:r>
            <a:endParaRPr lang="en-US" sz="1100"/>
          </a:p>
          <a:p>
            <a:pPr marL="165100" indent="-165100" algn="l">
              <a:lnSpc>
                <a:spcPct val="158000"/>
              </a:lnSpc>
              <a:buClr>
                <a:srgbClr val="3C3C3C"/>
              </a:buClr>
              <a:buChar char="•"/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首个能自适应决定是否推理的合成图像检测模型</a:t>
            </a:r>
            <a:endParaRPr lang="en-US" sz="1300" b="0" i="0" u="none" strike="noStrike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65100" indent="-165100" algn="l">
              <a:lnSpc>
                <a:spcPct val="158000"/>
              </a:lnSpc>
              <a:buClr>
                <a:srgbClr val="3C3C3C"/>
              </a:buClr>
              <a:buChar char="•"/>
            </a:pPr>
            <a:r>
              <a:rPr lang="zh-CN" alt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优化高难度数据集用于</a:t>
            </a:r>
            <a:r>
              <a:rPr lang="zh-CN" altLang="en-US" sz="1300" b="0" i="0" u="none" strike="noStrike">
                <a:solidFill>
                  <a:srgbClr val="3C3C3C"/>
                </a:solidFill>
                <a:highlight>
                  <a:srgbClr val="FFFF00"/>
                </a:highlight>
                <a:latin typeface="Noto Sans SC"/>
                <a:ea typeface="Noto Sans SC"/>
                <a:cs typeface="Noto Sans SC"/>
                <a:sym typeface="Noto Sans SC"/>
              </a:rPr>
              <a:t>强化学习</a:t>
            </a:r>
            <a:endParaRPr lang="en-US" sz="1300" b="0" i="0" u="none" strike="noStrike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65100" indent="-165100" algn="l">
              <a:lnSpc>
                <a:spcPct val="158000"/>
              </a:lnSpc>
              <a:buClr>
                <a:srgbClr val="3C3C3C"/>
              </a:buClr>
              <a:buChar char="•"/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缓解了 LRM 过度推理</a:t>
            </a:r>
            <a:r>
              <a:rPr lang="zh-CN" alt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问题，</a:t>
            </a:r>
            <a:r>
              <a:rPr lang="zh-CN" altLang="en-US" sz="1300" b="0" i="0" u="none" strike="noStrike">
                <a:solidFill>
                  <a:srgbClr val="3C3C3C"/>
                </a:solidFill>
                <a:highlight>
                  <a:srgbClr val="FFFF00"/>
                </a:highlight>
                <a:latin typeface="Noto Sans SC"/>
                <a:ea typeface="Noto Sans SC"/>
                <a:cs typeface="Noto Sans SC"/>
                <a:sym typeface="Noto Sans SC"/>
              </a:rPr>
              <a:t>从</a:t>
            </a:r>
            <a:r>
              <a:rPr lang="en-US" altLang="zh-CN" sz="1300" b="0" i="0" u="none" strike="noStrike">
                <a:solidFill>
                  <a:srgbClr val="3C3C3C"/>
                </a:solidFill>
                <a:highlight>
                  <a:srgbClr val="FFFF00"/>
                </a:highlight>
                <a:latin typeface="Noto Sans SC"/>
                <a:ea typeface="Noto Sans SC"/>
                <a:cs typeface="Noto Sans SC"/>
                <a:sym typeface="Noto Sans SC"/>
              </a:rPr>
              <a:t> token </a:t>
            </a:r>
            <a:r>
              <a:rPr lang="zh-CN" altLang="en-US" sz="1300" b="0" i="0" u="none" strike="noStrike">
                <a:solidFill>
                  <a:srgbClr val="3C3C3C"/>
                </a:solidFill>
                <a:highlight>
                  <a:srgbClr val="FFFF00"/>
                </a:highlight>
                <a:latin typeface="Noto Sans SC"/>
                <a:ea typeface="Noto Sans SC"/>
                <a:cs typeface="Noto Sans SC"/>
                <a:sym typeface="Noto Sans SC"/>
              </a:rPr>
              <a:t>损耗视角优化模型</a:t>
            </a:r>
            <a:endParaRPr lang="zh-CN" altLang="en-US" sz="1300" b="0" i="0" u="none" strike="noStrike">
              <a:solidFill>
                <a:srgbClr val="3C3C3C"/>
              </a:solidFill>
              <a:highlight>
                <a:srgbClr val="FFFF00"/>
              </a:highlight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7" name="Connector 7"/>
          <p:cNvCxnSpPr/>
          <p:nvPr/>
        </p:nvCxnSpPr>
        <p:spPr>
          <a:xfrm rot="5389738">
            <a:off x="4095750" y="3962409"/>
            <a:ext cx="425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604000" y="1841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43C3C"/>
                </a:solidFill>
                <a:latin typeface="Noto Sans SC"/>
                <a:ea typeface="Noto Sans SC"/>
                <a:cs typeface="Noto Sans SC"/>
                <a:sym typeface="Noto Sans SC"/>
              </a:rPr>
              <a:t>不足与未来工作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604000" y="2349500"/>
            <a:ext cx="4826000" cy="368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58000"/>
              </a:lnSpc>
              <a:buClr>
                <a:srgbClr val="3C3C3C"/>
              </a:buClr>
              <a:buChar char="•"/>
              <a:defRPr/>
            </a:pPr>
            <a:r>
              <a:rPr lang="en-US" sz="1300" b="1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模态局限：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目前只做图像，未来扩展到合成文本、视频检测</a:t>
            </a:r>
            <a:endParaRPr lang="en-US" sz="1100"/>
          </a:p>
          <a:p>
            <a:pPr marL="165100" indent="-165100" algn="l">
              <a:lnSpc>
                <a:spcPct val="158000"/>
              </a:lnSpc>
              <a:buClr>
                <a:srgbClr val="3C3C3C"/>
              </a:buClr>
              <a:buChar char="•"/>
            </a:pPr>
            <a:r>
              <a:rPr lang="en-US" sz="1300" b="1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推理</a:t>
            </a:r>
            <a:r>
              <a:rPr lang="zh-CN" altLang="en-US" sz="1300" b="1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种类</a:t>
            </a:r>
            <a:r>
              <a:rPr lang="en-US" sz="1300" b="1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当前是</a:t>
            </a:r>
            <a:r>
              <a:rPr lang="en-US" sz="1300" b="0" i="0" u="none" strike="noStrike">
                <a:solidFill>
                  <a:srgbClr val="3C3C3C"/>
                </a:solidFill>
                <a:highlight>
                  <a:srgbClr val="FFFF00"/>
                </a:highlight>
                <a:latin typeface="Noto Sans SC"/>
                <a:ea typeface="Noto Sans SC"/>
                <a:cs typeface="Noto Sans SC"/>
                <a:sym typeface="Noto Sans SC"/>
              </a:rPr>
              <a:t>"推理/不推理"二选一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，未来可探索不同复杂度的推理层级</a:t>
            </a:r>
            <a:endParaRPr lang="en-US" sz="1300" b="0" i="0" u="none" strike="noStrike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65100" indent="-165100" algn="l">
              <a:lnSpc>
                <a:spcPct val="158000"/>
              </a:lnSpc>
              <a:buClr>
                <a:srgbClr val="3C3C3C"/>
              </a:buClr>
              <a:buChar char="•"/>
            </a:pPr>
            <a:r>
              <a:rPr lang="zh-CN" altLang="en-US" sz="1300" b="1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优化方法太一刀切</a:t>
            </a:r>
            <a:r>
              <a:rPr lang="zh-CN" alt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，简单的</a:t>
            </a:r>
            <a:r>
              <a:rPr lang="zh-CN" alt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直接不推理。因为大模型的优势就是给出推理解释，抛弃推理就和二分类算法无异，为何判断胃简单的图然后直接用二分类。</a:t>
            </a:r>
            <a:r>
              <a:rPr lang="zh-CN" altLang="en-US" sz="13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或许有简单推理和复杂推理方法，来节省</a:t>
            </a:r>
            <a:r>
              <a:rPr lang="en-US" altLang="zh-CN" sz="13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 token</a:t>
            </a:r>
            <a:endParaRPr lang="en-US" altLang="zh-CN" sz="1300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1559</Words>
  <Application>WPS 表格</Application>
  <PresentationFormat/>
  <Paragraphs>107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4" baseType="lpstr">
      <vt:lpstr>Arial</vt:lpstr>
      <vt:lpstr>宋体</vt:lpstr>
      <vt:lpstr>Wingdings</vt:lpstr>
      <vt:lpstr>Arial</vt:lpstr>
      <vt:lpstr>Noto Sans SC</vt:lpstr>
      <vt:lpstr>Thonburi</vt:lpstr>
      <vt:lpstr>宋体</vt:lpstr>
      <vt:lpstr>汉仪书宋二KW</vt:lpstr>
      <vt:lpstr>微软雅黑</vt:lpstr>
      <vt:lpstr>方正雅意黑 GB18030L2</vt:lpstr>
      <vt:lpstr>Arial Unicode MS</vt:lpstr>
      <vt:lpstr>Noto Sans SC</vt:lpstr>
      <vt:lpstr>苹方-简</vt:lpstr>
      <vt:lpstr>PingFang SC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皱眉你会吗</cp:lastModifiedBy>
  <cp:revision>17</cp:revision>
  <dcterms:created xsi:type="dcterms:W3CDTF">2026-09-23T13:04:33Z</dcterms:created>
  <dcterms:modified xsi:type="dcterms:W3CDTF">2026-09-23T13:04:33Z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{"Label":"1","ContentProducer":"001191110102MACQD9K64010000","ProduceID":"7688684642237746121","ReservedCode1":"","ContentPropagator":"","PropagateID":"","ReservedCode2":""}</vt:lpwstr>
  </property>
  <property fmtid="{D5CDD505-2E9C-101B-9397-08002B2CF9AE}" pid="3" name="KSOProductBuildVer">
    <vt:lpwstr>2052-12.1.28496.28496</vt:lpwstr>
  </property>
  <property fmtid="{D5CDD505-2E9C-101B-9397-08002B2CF9AE}" pid="4" name="ICV">
    <vt:lpwstr>8D4AD707278C80B623B3B36AAEF71B10_42</vt:lpwstr>
  </property>
</Properties>
</file>